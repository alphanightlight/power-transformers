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9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90" r:id="rId12"/>
    <p:sldId id="291" r:id="rId13"/>
    <p:sldId id="292" r:id="rId14"/>
    <p:sldId id="293" r:id="rId15"/>
    <p:sldId id="295" r:id="rId16"/>
    <p:sldId id="300" r:id="rId17"/>
    <p:sldId id="296" r:id="rId18"/>
    <p:sldId id="297" r:id="rId19"/>
    <p:sldId id="298" r:id="rId20"/>
    <p:sldId id="299" r:id="rId21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IEC Models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Alex Pegoraro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48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Model Variables</a:t>
            </a:r>
            <a:endParaRPr lang="en-US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States: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2"/>
              <p:cNvSpPr txBox="1">
                <a:spLocks/>
              </p:cNvSpPr>
              <p:nvPr/>
            </p:nvSpPr>
            <p:spPr>
              <a:xfrm>
                <a:off x="395536" y="1916832"/>
                <a:ext cx="8229600" cy="12354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it-IT" sz="2000" b="0" i="1" smtClean="0">
                            <a:latin typeface="Cambria Math"/>
                          </a:rPr>
                          <m:t>𝑜</m:t>
                        </m:r>
                      </m:sub>
                    </m:sSub>
                    <m:d>
                      <m:dPr>
                        <m:ctrlPr>
                          <a:rPr lang="it-IT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top oil temperature 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[°C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it-IT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hotspot temperature [°C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]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it-IT" sz="2000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it-IT" sz="20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/>
                          </a:rPr>
                          <m:t>h</m:t>
                        </m:r>
                      </m:sub>
                      <m:sup>
                        <m:r>
                          <a:rPr lang="it-IT" sz="2000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it-IT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hotspot temperature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derivative [°C/min]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Segnaposto contenu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16832"/>
                <a:ext cx="8229600" cy="1235426"/>
              </a:xfrm>
              <a:prstGeom prst="rect">
                <a:avLst/>
              </a:prstGeom>
              <a:blipFill rotWithShape="1">
                <a:blip r:embed="rId2"/>
                <a:stretch>
                  <a:fillRect t="-24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egnaposto contenuto 2"/>
          <p:cNvSpPr txBox="1">
            <a:spLocks/>
          </p:cNvSpPr>
          <p:nvPr/>
        </p:nvSpPr>
        <p:spPr>
          <a:xfrm>
            <a:off x="6948264" y="2655145"/>
            <a:ext cx="3610744" cy="2411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egnaposto contenuto 2"/>
          <p:cNvSpPr txBox="1">
            <a:spLocks/>
          </p:cNvSpPr>
          <p:nvPr/>
        </p:nvSpPr>
        <p:spPr>
          <a:xfrm>
            <a:off x="395536" y="4562500"/>
            <a:ext cx="8229600" cy="676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Initial condition parameters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contenuto 2"/>
              <p:cNvSpPr txBox="1">
                <a:spLocks/>
              </p:cNvSpPr>
              <p:nvPr/>
            </p:nvSpPr>
            <p:spPr>
              <a:xfrm>
                <a:off x="395536" y="5229200"/>
                <a:ext cx="8229600" cy="8640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000">
                        <a:latin typeface="Cambria Math"/>
                        <a:cs typeface="Times New Roman" pitchFamily="18" charset="0"/>
                      </a:rPr>
                      <m:t>Δ</m:t>
                    </m:r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𝑜𝑖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top oil temperature rise at start [°C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]</a:t>
                </a:r>
                <a:endParaRPr lang="it-IT" sz="2000" dirty="0" smtClean="0">
                  <a:latin typeface="Cambria Math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000">
                        <a:latin typeface="Cambria Math"/>
                        <a:cs typeface="Times New Roman" pitchFamily="18" charset="0"/>
                      </a:rPr>
                      <m:t>Δ</m:t>
                    </m:r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h𝑖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hotspot to top oil gradient at start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[°C]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Segnaposto contenu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229200"/>
                <a:ext cx="8229600" cy="864096"/>
              </a:xfrm>
              <a:prstGeom prst="rect">
                <a:avLst/>
              </a:prstGeom>
              <a:blipFill rotWithShape="1">
                <a:blip r:embed="rId3"/>
                <a:stretch>
                  <a:fillRect t="-3521" b="-7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egnaposto contenuto 2"/>
          <p:cNvSpPr txBox="1">
            <a:spLocks/>
          </p:cNvSpPr>
          <p:nvPr/>
        </p:nvSpPr>
        <p:spPr>
          <a:xfrm>
            <a:off x="371876" y="3130080"/>
            <a:ext cx="8229600" cy="676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egnaposto contenuto 2"/>
              <p:cNvSpPr txBox="1">
                <a:spLocks/>
              </p:cNvSpPr>
              <p:nvPr/>
            </p:nvSpPr>
            <p:spPr>
              <a:xfrm>
                <a:off x="379380" y="3717032"/>
                <a:ext cx="8229600" cy="9721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t-IT" sz="2000" i="1">
                        <a:latin typeface="Cambria Math"/>
                        <a:cs typeface="Times New Roman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load factor []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ambient temperature [°C]</a:t>
                </a:r>
              </a:p>
            </p:txBody>
          </p:sp>
        </mc:Choice>
        <mc:Fallback xmlns="">
          <p:sp>
            <p:nvSpPr>
              <p:cNvPr id="13" name="Segnaposto contenu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80" y="3717032"/>
                <a:ext cx="8229600" cy="972108"/>
              </a:xfrm>
              <a:prstGeom prst="rect">
                <a:avLst/>
              </a:prstGeom>
              <a:blipFill rotWithShape="1">
                <a:blip r:embed="rId4"/>
                <a:stretch>
                  <a:fillRect t="-31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06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Model Variables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Transformer parameters: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2"/>
              <p:cNvSpPr txBox="1">
                <a:spLocks/>
              </p:cNvSpPr>
              <p:nvPr/>
            </p:nvSpPr>
            <p:spPr>
              <a:xfrm>
                <a:off x="395536" y="1988840"/>
                <a:ext cx="8229600" cy="43924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000" smtClean="0">
                        <a:latin typeface="Cambria Math"/>
                        <a:cs typeface="Times New Roman" pitchFamily="18" charset="0"/>
                      </a:rPr>
                      <m:t>Δ</m:t>
                    </m:r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𝑜𝑟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top oil temperature rise in steady state at rated losses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[°C]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000">
                        <a:latin typeface="Cambria Math"/>
                        <a:cs typeface="Times New Roman" pitchFamily="18" charset="0"/>
                      </a:rPr>
                      <m:t>Δ</m:t>
                    </m:r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b="0" i="1" smtClean="0">
                            <a:latin typeface="Cambria Math"/>
                            <a:cs typeface="Times New Roman" pitchFamily="18" charset="0"/>
                          </a:rPr>
                          <m:t>h</m:t>
                        </m:r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hotspot to top oil gradient at rated current [°C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average oil time constant [min]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winding time constant [min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t-IT" sz="2000" i="1">
                        <a:latin typeface="Cambria Math"/>
                        <a:cs typeface="Times New Roman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loss ratio []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t-IT" sz="2000" i="1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exponential power of total losses []</a:t>
                </a:r>
                <a:endParaRPr lang="it-IT" sz="2000" i="1" dirty="0">
                  <a:latin typeface="Cambria Math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t-IT" sz="2000" i="1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winding exponent []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fitting constant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[]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fitting constant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[]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fitting constant []</a:t>
                </a:r>
              </a:p>
            </p:txBody>
          </p:sp>
        </mc:Choice>
        <mc:Fallback xmlns="">
          <p:sp>
            <p:nvSpPr>
              <p:cNvPr id="7" name="Segnaposto contenu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8840"/>
                <a:ext cx="8229600" cy="4392488"/>
              </a:xfrm>
              <a:prstGeom prst="rect">
                <a:avLst/>
              </a:prstGeom>
              <a:blipFill rotWithShape="1">
                <a:blip r:embed="rId2"/>
                <a:stretch>
                  <a:fillRect t="-6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31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Model Variables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Handful definitions: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323528" y="2060848"/>
                <a:ext cx="3423886" cy="12606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it-IT" sz="3200" i="1">
                          <a:latin typeface="Cambria Math"/>
                        </a:rPr>
                        <m:t>≝</m:t>
                      </m:r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32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it-IT" sz="3200" b="0" i="1" smtClean="0">
                                      <a:latin typeface="Cambria Math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it-IT" sz="32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3200" b="0" i="1" smtClean="0">
                                          <a:latin typeface="Cambria Math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it-IT" sz="32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it-IT" sz="3200" b="0" i="0" smtClean="0">
                                      <a:latin typeface="Cambria Math"/>
                                    </a:rPr>
                                    <m:t>R</m:t>
                                  </m:r>
                                </m:num>
                                <m:den>
                                  <m:r>
                                    <a:rPr lang="it-IT" sz="3200" b="0" i="1" smtClean="0">
                                      <a:latin typeface="Cambria Math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it-IT" sz="3200" b="0" i="0" smtClean="0">
                                      <a:latin typeface="Cambria Math"/>
                                    </a:rPr>
                                    <m:t>R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060848"/>
                <a:ext cx="3423886" cy="126060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/>
              <p:cNvSpPr txBox="1"/>
              <p:nvPr/>
            </p:nvSpPr>
            <p:spPr>
              <a:xfrm>
                <a:off x="4211960" y="2379333"/>
                <a:ext cx="1839863" cy="623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𝑦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≝</m:t>
                      </m:r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6" name="CasellaDiTes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2379333"/>
                <a:ext cx="1839863" cy="6236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/>
              <p:cNvSpPr txBox="1"/>
              <p:nvPr/>
            </p:nvSpPr>
            <p:spPr>
              <a:xfrm>
                <a:off x="323528" y="3861048"/>
                <a:ext cx="2745110" cy="5957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it-IT" sz="3200" i="1">
                          <a:latin typeface="Cambria Math"/>
                        </a:rPr>
                        <m:t>≝1−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8" name="CasellaDiTes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861048"/>
                <a:ext cx="2745110" cy="5957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/>
              <p:cNvSpPr txBox="1"/>
              <p:nvPr/>
            </p:nvSpPr>
            <p:spPr>
              <a:xfrm>
                <a:off x="4211959" y="5129949"/>
                <a:ext cx="4238917" cy="11109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it-IT" sz="3200" i="1">
                          <a:latin typeface="Cambria Math"/>
                        </a:rPr>
                        <m:t>≝</m:t>
                      </m:r>
                      <m:f>
                        <m:fPr>
                          <m:ctrlPr>
                            <a:rPr lang="it-IT" sz="32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it-IT" sz="3200" i="1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21</m:t>
                          </m:r>
                        </m:sub>
                      </m:sSub>
                      <m:f>
                        <m:fPr>
                          <m:ctrlPr>
                            <a:rPr lang="it-IT" sz="32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59" y="5129949"/>
                <a:ext cx="4238917" cy="111094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/>
              <p:cNvSpPr txBox="1"/>
              <p:nvPr/>
            </p:nvSpPr>
            <p:spPr>
              <a:xfrm>
                <a:off x="323527" y="5129949"/>
                <a:ext cx="3247877" cy="11109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𝐺</m:t>
                      </m:r>
                      <m:r>
                        <a:rPr lang="it-IT" sz="3200" i="1">
                          <a:latin typeface="Cambria Math"/>
                        </a:rPr>
                        <m:t>≝</m:t>
                      </m:r>
                      <m:f>
                        <m:fPr>
                          <m:ctrlPr>
                            <a:rPr lang="it-IT" sz="3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sz="3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it-IT" sz="3200" i="1"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it-IT" sz="32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7" y="5129949"/>
                <a:ext cx="3247877" cy="11109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71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Model Variables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Initial condition assumption: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/>
              <p:cNvSpPr txBox="1"/>
              <p:nvPr/>
            </p:nvSpPr>
            <p:spPr>
              <a:xfrm>
                <a:off x="2526791" y="2060849"/>
                <a:ext cx="20144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791" y="2060849"/>
                <a:ext cx="2014462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5263095" y="2060849"/>
                <a:ext cx="20347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095" y="2060849"/>
                <a:ext cx="2034724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/>
              <p:cNvSpPr txBox="1"/>
              <p:nvPr/>
            </p:nvSpPr>
            <p:spPr>
              <a:xfrm>
                <a:off x="395536" y="3794667"/>
                <a:ext cx="354289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𝑜𝑖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𝑜𝑟</m:t>
                          </m:r>
                        </m:sub>
                      </m:sSub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3" name="CasellaDiTes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794667"/>
                <a:ext cx="3542893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gnaposto contenuto 2"/>
          <p:cNvSpPr txBox="1">
            <a:spLocks/>
          </p:cNvSpPr>
          <p:nvPr/>
        </p:nvSpPr>
        <p:spPr>
          <a:xfrm>
            <a:off x="395536" y="2110209"/>
            <a:ext cx="8229600" cy="486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Steady state: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/>
              <p:cNvSpPr txBox="1"/>
              <p:nvPr/>
            </p:nvSpPr>
            <p:spPr>
              <a:xfrm>
                <a:off x="395536" y="4515164"/>
                <a:ext cx="3461269" cy="623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h𝑖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h𝑟</m:t>
                          </m:r>
                        </m:sub>
                      </m:sSub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7" name="CasellaDiTes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515164"/>
                <a:ext cx="3461269" cy="6236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/>
              <p:cNvSpPr txBox="1"/>
              <p:nvPr/>
            </p:nvSpPr>
            <p:spPr>
              <a:xfrm>
                <a:off x="395536" y="5315546"/>
                <a:ext cx="209044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8" name="CasellaDiTes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315546"/>
                <a:ext cx="2090444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egnaposto contenuto 2"/>
          <p:cNvSpPr txBox="1">
            <a:spLocks/>
          </p:cNvSpPr>
          <p:nvPr/>
        </p:nvSpPr>
        <p:spPr>
          <a:xfrm>
            <a:off x="395536" y="2924944"/>
            <a:ext cx="8229600" cy="676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Consequences: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42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Exponential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/>
              <p:cNvSpPr txBox="1"/>
              <p:nvPr/>
            </p:nvSpPr>
            <p:spPr>
              <a:xfrm>
                <a:off x="0" y="1970219"/>
                <a:ext cx="9144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𝑜𝑟</m:t>
                          </m:r>
                        </m:sub>
                      </m:sSub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𝑜𝑖</m:t>
                              </m:r>
                            </m:sub>
                          </m:sSub>
                          <m:r>
                            <a:rPr lang="it-IT" sz="3200" b="0" i="0" smtClean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𝑜𝑟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sz="3200" b="0" dirty="0" smtClean="0"/>
              </a:p>
            </p:txBody>
          </p:sp>
        </mc:Choice>
        <mc:Fallback xmlns=""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70219"/>
                <a:ext cx="9144000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/>
              <p:cNvSpPr txBox="1"/>
              <p:nvPr/>
            </p:nvSpPr>
            <p:spPr>
              <a:xfrm>
                <a:off x="0" y="4581128"/>
                <a:ext cx="9144000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i="1">
                              <a:latin typeface="Cambria Math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𝑦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it-IT" sz="32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sz="3200" b="0" i="0" smtClean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it-IT" sz="32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sz="3200" b="0" dirty="0" smtClean="0"/>
              </a:p>
            </p:txBody>
          </p:sp>
        </mc:Choice>
        <mc:Fallback xmlns=""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81128"/>
                <a:ext cx="9144000" cy="65889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2675070" y="2587955"/>
                <a:ext cx="3793859" cy="1198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it-IT" sz="32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3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it-IT" sz="32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it-IT" sz="3200" i="1">
                                      <a:latin typeface="Cambria Math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11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070" y="2587955"/>
                <a:ext cx="3793859" cy="119885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/>
              <p:cNvSpPr txBox="1"/>
              <p:nvPr/>
            </p:nvSpPr>
            <p:spPr>
              <a:xfrm>
                <a:off x="564139" y="5373216"/>
                <a:ext cx="8015720" cy="1198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21</m:t>
                          </m:r>
                        </m:sub>
                      </m:sSub>
                      <m:func>
                        <m:funcPr>
                          <m:ctrlPr>
                            <a:rPr lang="it-IT" sz="32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3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it-IT" sz="32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it-IT" sz="3200" i="1">
                                      <a:latin typeface="Cambria Math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22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𝑤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it-IT" sz="32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21</m:t>
                          </m:r>
                        </m:sub>
                      </m:sSub>
                      <m:func>
                        <m:funcPr>
                          <m:ctrlPr>
                            <a:rPr lang="it-IT" sz="32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it-IT" sz="3200" b="0" i="1" smtClean="0">
                                  <a:latin typeface="Cambria Math"/>
                                </a:rPr>
                                <m:t>𝑡</m:t>
                              </m:r>
                              <m:f>
                                <m:fPr>
                                  <m:ctrlPr>
                                    <a:rPr lang="it-IT" sz="3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sz="32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it-IT" sz="3200" b="0" i="1" smtClean="0">
                                          <a:latin typeface="Cambria Math"/>
                                        </a:rPr>
                                        <m:t>22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it-IT" sz="3200" b="0" dirty="0" smtClean="0"/>
              </a:p>
            </p:txBody>
          </p:sp>
        </mc:Choice>
        <mc:Fallback xmlns="">
          <p:sp>
            <p:nvSpPr>
              <p:cNvPr id="12" name="CasellaDiTes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39" y="5373216"/>
                <a:ext cx="8015720" cy="119885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Top oil: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egnaposto contenuto 2"/>
          <p:cNvSpPr txBox="1">
            <a:spLocks/>
          </p:cNvSpPr>
          <p:nvPr/>
        </p:nvSpPr>
        <p:spPr>
          <a:xfrm>
            <a:off x="457200" y="3786809"/>
            <a:ext cx="8229600" cy="676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Hotspot: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05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Top oil: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/>
              <p:cNvSpPr txBox="1"/>
              <p:nvPr/>
            </p:nvSpPr>
            <p:spPr>
              <a:xfrm>
                <a:off x="410162" y="2132856"/>
                <a:ext cx="525765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sSubSup>
                        <m:sSubSupPr>
                          <m:ctrlPr>
                            <a:rPr lang="it-IT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𝑜</m:t>
                          </m:r>
                        </m:sub>
                        <m:sup>
                          <m:r>
                            <a:rPr lang="it-IT" sz="32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32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𝑜𝑟</m:t>
                          </m:r>
                        </m:sub>
                      </m:sSub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5" name="CasellaDiTes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2132856"/>
                <a:ext cx="5257658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/>
              <p:cNvSpPr txBox="1"/>
              <p:nvPr/>
            </p:nvSpPr>
            <p:spPr>
              <a:xfrm>
                <a:off x="410162" y="3015646"/>
                <a:ext cx="41824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𝑜𝑖</m:t>
                          </m:r>
                        </m:sub>
                      </m:sSub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6" name="CasellaDiTes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3015646"/>
                <a:ext cx="4182492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egnaposto contenuto 2"/>
          <p:cNvSpPr txBox="1">
            <a:spLocks/>
          </p:cNvSpPr>
          <p:nvPr/>
        </p:nvSpPr>
        <p:spPr>
          <a:xfrm>
            <a:off x="410162" y="3952731"/>
            <a:ext cx="8229600" cy="676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Hotspot: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/>
              <p:cNvSpPr txBox="1"/>
              <p:nvPr/>
            </p:nvSpPr>
            <p:spPr>
              <a:xfrm>
                <a:off x="410162" y="4797152"/>
                <a:ext cx="380777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8" name="CasellaDiTes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4797152"/>
                <a:ext cx="3807773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7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Hotspot components: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/>
              <p:cNvSpPr txBox="1"/>
              <p:nvPr/>
            </p:nvSpPr>
            <p:spPr>
              <a:xfrm>
                <a:off x="410162" y="2276872"/>
                <a:ext cx="5422062" cy="623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h𝑟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8" name="CasellaDiTes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2276872"/>
                <a:ext cx="5422062" cy="6236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/>
              <p:cNvSpPr txBox="1"/>
              <p:nvPr/>
            </p:nvSpPr>
            <p:spPr>
              <a:xfrm>
                <a:off x="410162" y="4216294"/>
                <a:ext cx="5032981" cy="1012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320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b="0" i="1" smtClean="0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h𝑟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4216294"/>
                <a:ext cx="5032981" cy="101290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/>
              <p:cNvSpPr txBox="1"/>
              <p:nvPr/>
            </p:nvSpPr>
            <p:spPr>
              <a:xfrm>
                <a:off x="410162" y="3068960"/>
                <a:ext cx="33394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h𝑖</m:t>
                          </m:r>
                        </m:sub>
                      </m:sSub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3068960"/>
                <a:ext cx="3339440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410162" y="5373216"/>
                <a:ext cx="3339440" cy="5957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  <m:r>
                            <a:rPr lang="it-IT" sz="3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h𝑖</m:t>
                          </m:r>
                        </m:sub>
                      </m:sSub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5373216"/>
                <a:ext cx="3339440" cy="59574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76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Lyapunov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form: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/>
              <p:cNvSpPr txBox="1"/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a:rPr lang="it-IT" sz="3200" b="0" i="1" smtClean="0">
                          <a:latin typeface="Cambria Math"/>
                        </a:rPr>
                        <m:t>𝐴</m:t>
                      </m:r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a:rPr lang="it-IT" sz="3200" b="0" i="1" smtClean="0">
                          <a:latin typeface="Cambria Math"/>
                        </a:rPr>
                        <m:t>𝐵𝑢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2" name="CasellaDiTes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/>
              <p:cNvSpPr txBox="1"/>
              <p:nvPr/>
            </p:nvSpPr>
            <p:spPr>
              <a:xfrm>
                <a:off x="539552" y="2251857"/>
                <a:ext cx="2153282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4" name="CasellaDiTes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51857"/>
                <a:ext cx="2153282" cy="16575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/>
              <p:cNvSpPr txBox="1"/>
              <p:nvPr/>
            </p:nvSpPr>
            <p:spPr>
              <a:xfrm>
                <a:off x="6549428" y="2251860"/>
                <a:ext cx="1899110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𝑢</m:t>
                      </m:r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7" name="CasellaDiTes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428" y="2251860"/>
                <a:ext cx="1899110" cy="16575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/>
              <p:cNvSpPr txBox="1"/>
              <p:nvPr/>
            </p:nvSpPr>
            <p:spPr>
              <a:xfrm>
                <a:off x="2450219" y="4437111"/>
                <a:ext cx="4353692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it-IT" sz="32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32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𝑜𝑖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it-IT" sz="32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h𝑖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it-IT" sz="3200" i="1">
                                            <a:latin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sz="32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it-IT" sz="32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h𝑖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8" name="CasellaDiTes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19" y="4437111"/>
                <a:ext cx="4353692" cy="16575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/>
              <p:cNvSpPr txBox="1"/>
              <p:nvPr/>
            </p:nvSpPr>
            <p:spPr>
              <a:xfrm>
                <a:off x="3635896" y="2251858"/>
                <a:ext cx="2020810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9" name="CasellaDiTes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251858"/>
                <a:ext cx="2020810" cy="16575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36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Lyapunov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form: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/>
              <p:cNvSpPr txBox="1"/>
              <p:nvPr/>
            </p:nvSpPr>
            <p:spPr>
              <a:xfrm>
                <a:off x="-4056" y="2276872"/>
                <a:ext cx="4480586" cy="24747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/>
                        </a:rPr>
                        <m:t>𝐴</m:t>
                      </m:r>
                      <m:r>
                        <a:rPr lang="it-IT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4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4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sz="2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it-IT" sz="2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4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400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4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it-IT" sz="2400" i="1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sz="24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it-IT" sz="24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4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sz="24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5" name="CasellaDiTes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56" y="2276872"/>
                <a:ext cx="4480586" cy="247471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/>
              <p:cNvSpPr txBox="1"/>
              <p:nvPr/>
            </p:nvSpPr>
            <p:spPr>
              <a:xfrm>
                <a:off x="4439503" y="2276872"/>
                <a:ext cx="4708148" cy="2481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/>
                        </a:rPr>
                        <m:t>𝐵</m:t>
                      </m:r>
                      <m:r>
                        <a:rPr lang="it-IT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4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it-IT" sz="24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2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it-IT" sz="24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it-IT" sz="2400">
                                        <a:latin typeface="Cambria Math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𝑜𝑟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it-IT" sz="2400" b="0" i="1" smtClean="0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it-IT" sz="2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it-IT" sz="2400" b="0" i="0" smtClean="0">
                                        <a:latin typeface="Cambria Math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it-IT" sz="24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h𝑟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4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4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it-IT" sz="2400" i="1">
                                            <a:latin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it-IT" sz="2400" i="1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it-IT" sz="24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2400" i="1">
                                        <a:latin typeface="Cambria Math"/>
                                      </a:rPr>
                                      <m:t>h𝑟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it-IT" sz="2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sz="24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4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400" b="0" i="1" smtClean="0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6" name="CasellaDiTes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03" y="2276872"/>
                <a:ext cx="4708148" cy="24810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a:rPr lang="it-IT" sz="3200" b="0" i="1" smtClean="0">
                          <a:latin typeface="Cambria Math"/>
                        </a:rPr>
                        <m:t>𝐴</m:t>
                      </m:r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a:rPr lang="it-IT" sz="3200" b="0" i="1" smtClean="0">
                          <a:latin typeface="Cambria Math"/>
                        </a:rPr>
                        <m:t>𝐵𝑢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/>
              <p:cNvSpPr txBox="1"/>
              <p:nvPr/>
            </p:nvSpPr>
            <p:spPr>
              <a:xfrm>
                <a:off x="3131478" y="5301208"/>
                <a:ext cx="2947474" cy="11184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sz="3200" b="0" i="1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11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it-IT" sz="32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8" name="CasellaDiTes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478" y="5301208"/>
                <a:ext cx="2947474" cy="111844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58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Top oil: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/>
              <p:cNvSpPr txBox="1"/>
              <p:nvPr/>
            </p:nvSpPr>
            <p:spPr>
              <a:xfrm>
                <a:off x="410162" y="2132856"/>
                <a:ext cx="525765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𝑜𝑟</m:t>
                          </m:r>
                        </m:sub>
                      </m:sSub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sSubSup>
                        <m:sSubSupPr>
                          <m:ctrlPr>
                            <a:rPr lang="it-IT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𝑜</m:t>
                          </m:r>
                        </m:sub>
                        <m:sup>
                          <m:r>
                            <a:rPr lang="it-IT" sz="3200" i="1">
                              <a:latin typeface="Cambria Math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5" name="CasellaDiTes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2132856"/>
                <a:ext cx="5257658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/>
              <p:cNvSpPr txBox="1"/>
              <p:nvPr/>
            </p:nvSpPr>
            <p:spPr>
              <a:xfrm>
                <a:off x="410162" y="3015646"/>
                <a:ext cx="41824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𝑜𝑖</m:t>
                          </m:r>
                        </m:sub>
                      </m:sSub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6" name="CasellaDiTes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3015646"/>
                <a:ext cx="4182492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egnaposto contenuto 2"/>
          <p:cNvSpPr txBox="1">
            <a:spLocks/>
          </p:cNvSpPr>
          <p:nvPr/>
        </p:nvSpPr>
        <p:spPr>
          <a:xfrm>
            <a:off x="410162" y="3952731"/>
            <a:ext cx="8229600" cy="676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Hotspot: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/>
              <p:cNvSpPr txBox="1"/>
              <p:nvPr/>
            </p:nvSpPr>
            <p:spPr>
              <a:xfrm>
                <a:off x="410162" y="4797152"/>
                <a:ext cx="27365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h𝑜</m:t>
                          </m:r>
                        </m:sub>
                      </m:sSub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8" name="CasellaDiTes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62" y="4797152"/>
                <a:ext cx="2736518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55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Hotspot components: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/>
              <p:cNvSpPr txBox="1"/>
              <p:nvPr/>
            </p:nvSpPr>
            <p:spPr>
              <a:xfrm>
                <a:off x="1182179" y="2204864"/>
                <a:ext cx="6839758" cy="623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h𝑜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h𝑟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𝑦</m:t>
                          </m:r>
                        </m:sub>
                      </m:sSub>
                      <m:r>
                        <a:rPr lang="it-IT" sz="3200" b="0" i="1" smtClean="0">
                          <a:latin typeface="Cambria Math"/>
                        </a:rPr>
                        <m:t>−</m:t>
                      </m:r>
                      <m:r>
                        <a:rPr lang="it-IT" sz="3200" b="0" i="1" smtClean="0">
                          <a:latin typeface="Cambria Math"/>
                        </a:rPr>
                        <m:t>𝐺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h𝑜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it-IT" sz="32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it-IT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h𝑜</m:t>
                          </m:r>
                        </m:sub>
                        <m:sup>
                          <m:r>
                            <a:rPr lang="it-IT" sz="3200" i="1">
                              <a:latin typeface="Cambria Math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14" name="CasellaDiTes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179" y="2204864"/>
                <a:ext cx="6839758" cy="6236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/>
              <p:cNvSpPr txBox="1"/>
              <p:nvPr/>
            </p:nvSpPr>
            <p:spPr>
              <a:xfrm>
                <a:off x="3222098" y="3333591"/>
                <a:ext cx="27599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h𝑜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h𝑖</m:t>
                          </m:r>
                        </m:sub>
                      </m:sSub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CasellaDiTes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098" y="3333591"/>
                <a:ext cx="2759923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/>
              <p:cNvSpPr txBox="1"/>
              <p:nvPr/>
            </p:nvSpPr>
            <p:spPr>
              <a:xfrm>
                <a:off x="1592708" y="4066246"/>
                <a:ext cx="6018699" cy="658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h𝑜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h𝑟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  <m:r>
                            <a:rPr lang="it-IT" sz="3200" i="1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h𝑖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16" name="CasellaDiTes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708" y="4066246"/>
                <a:ext cx="6018699" cy="65889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/>
              <p:cNvSpPr txBox="1"/>
              <p:nvPr/>
            </p:nvSpPr>
            <p:spPr>
              <a:xfrm>
                <a:off x="3497042" y="5436513"/>
                <a:ext cx="221002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h𝑜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9" name="CasellaDiTes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042" y="5436513"/>
                <a:ext cx="2210029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egnaposto contenuto 2"/>
          <p:cNvSpPr txBox="1">
            <a:spLocks/>
          </p:cNvSpPr>
          <p:nvPr/>
        </p:nvSpPr>
        <p:spPr>
          <a:xfrm>
            <a:off x="487257" y="5506088"/>
            <a:ext cx="8229600" cy="486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we assume steady state: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58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Lyapunov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form: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/>
              <p:cNvSpPr txBox="1"/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a:rPr lang="it-IT" sz="3200" b="0" i="1" smtClean="0">
                          <a:latin typeface="Cambria Math"/>
                        </a:rPr>
                        <m:t>𝐴</m:t>
                      </m:r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a:rPr lang="it-IT" sz="3200" b="0" i="1" smtClean="0">
                          <a:latin typeface="Cambria Math"/>
                        </a:rPr>
                        <m:t>𝐵𝑢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2" name="CasellaDiTes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/>
              <p:cNvSpPr txBox="1"/>
              <p:nvPr/>
            </p:nvSpPr>
            <p:spPr>
              <a:xfrm>
                <a:off x="539552" y="2251857"/>
                <a:ext cx="2163093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h𝑜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h𝑜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4" name="CasellaDiTes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51857"/>
                <a:ext cx="2163093" cy="16575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/>
              <p:cNvSpPr txBox="1"/>
              <p:nvPr/>
            </p:nvSpPr>
            <p:spPr>
              <a:xfrm>
                <a:off x="6549428" y="2251860"/>
                <a:ext cx="1899110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𝑢</m:t>
                      </m:r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7" name="CasellaDiTes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428" y="2251860"/>
                <a:ext cx="1899110" cy="16575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/>
              <p:cNvSpPr txBox="1"/>
              <p:nvPr/>
            </p:nvSpPr>
            <p:spPr>
              <a:xfrm>
                <a:off x="3635896" y="2251858"/>
                <a:ext cx="2020810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h𝑜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9" name="CasellaDiTes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251858"/>
                <a:ext cx="2020810" cy="16575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/>
              <p:cNvSpPr txBox="1"/>
              <p:nvPr/>
            </p:nvSpPr>
            <p:spPr>
              <a:xfrm>
                <a:off x="1647531" y="4365104"/>
                <a:ext cx="5997539" cy="1681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it-IT" sz="32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32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𝑜𝑖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it-IT" sz="32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h𝑖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sz="3200">
                                        <a:latin typeface="Cambria Math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it-IT" sz="3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3200" i="1">
                                            <a:latin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sz="3200" i="1">
                                            <a:latin typeface="Cambria Math"/>
                                          </a:rPr>
                                          <m:t>h𝑟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3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3200" i="1">
                                            <a:latin typeface="Cambria Math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it-IT" sz="32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it-IT" sz="32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sz="3200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it-IT" sz="3200">
                                        <a:latin typeface="Cambria Math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it-IT" sz="3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3200" i="1">
                                            <a:latin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sz="3200" i="1">
                                            <a:latin typeface="Cambria Math"/>
                                          </a:rPr>
                                          <m:t>h𝑖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531" y="4365104"/>
                <a:ext cx="5997539" cy="16815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84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Lyapunov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form: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/>
              <p:cNvSpPr txBox="1"/>
              <p:nvPr/>
            </p:nvSpPr>
            <p:spPr>
              <a:xfrm>
                <a:off x="0" y="2500334"/>
                <a:ext cx="4660122" cy="2278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/>
                        </a:rPr>
                        <m:t>𝐴</m:t>
                      </m:r>
                      <m:r>
                        <a:rPr lang="it-IT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8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sz="28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it-IT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8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800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it-IT" sz="2800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800" b="0" i="1" smtClean="0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800" b="0" i="1" smtClean="0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i="1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28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8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800">
                                    <a:latin typeface="Cambria Math"/>
                                  </a:rPr>
                                  <m:t>G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5" name="CasellaDiTes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00334"/>
                <a:ext cx="4660122" cy="227844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/>
              <p:cNvSpPr txBox="1"/>
              <p:nvPr/>
            </p:nvSpPr>
            <p:spPr>
              <a:xfrm>
                <a:off x="4776992" y="2492896"/>
                <a:ext cx="4381456" cy="228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/>
                        </a:rPr>
                        <m:t>𝐵</m:t>
                      </m:r>
                      <m:r>
                        <a:rPr lang="it-IT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it-IT" sz="2800">
                                        <a:latin typeface="Cambria Math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𝑜𝑟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it-IT" sz="28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it-IT" sz="2800">
                                        <a:latin typeface="Cambria Math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h𝑟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6" name="CasellaDiTes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992" y="2492896"/>
                <a:ext cx="4381456" cy="228588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a:rPr lang="it-IT" sz="3200" b="0" i="1" smtClean="0">
                          <a:latin typeface="Cambria Math"/>
                        </a:rPr>
                        <m:t>𝐴</m:t>
                      </m:r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a:rPr lang="it-IT" sz="3200" b="0" i="1" smtClean="0">
                          <a:latin typeface="Cambria Math"/>
                        </a:rPr>
                        <m:t>𝐵𝑢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/>
              <p:cNvSpPr txBox="1"/>
              <p:nvPr/>
            </p:nvSpPr>
            <p:spPr>
              <a:xfrm>
                <a:off x="3131478" y="5301208"/>
                <a:ext cx="2947474" cy="11184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sz="3200" b="0" i="1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11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it-IT" sz="32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478" y="5301208"/>
                <a:ext cx="2947474" cy="111844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85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Reactive II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Assumptions: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gnaposto contenuto 2"/>
              <p:cNvSpPr txBox="1">
                <a:spLocks/>
              </p:cNvSpPr>
              <p:nvPr/>
            </p:nvSpPr>
            <p:spPr>
              <a:xfrm>
                <a:off x="395536" y="2344370"/>
                <a:ext cx="8229600" cy="8380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Starting from the II Order model we introduce the following function in place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000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it-IT" sz="2000" b="0" i="1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it-IT" sz="2000" b="0" i="1" smtClean="0">
                            <a:latin typeface="Cambria Math"/>
                          </a:rPr>
                          <m:t>h𝑜</m:t>
                        </m:r>
                      </m:sub>
                      <m:sup>
                        <m:r>
                          <a:rPr lang="it-IT" sz="2000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to make it more reactive to the input: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Segnaposto contenu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344370"/>
                <a:ext cx="8229600" cy="838038"/>
              </a:xfrm>
              <a:prstGeom prst="rect">
                <a:avLst/>
              </a:prstGeom>
              <a:blipFill rotWithShape="1">
                <a:blip r:embed="rId2"/>
                <a:stretch>
                  <a:fillRect l="-815" t="-36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/>
              <p:cNvSpPr txBox="1"/>
              <p:nvPr/>
            </p:nvSpPr>
            <p:spPr>
              <a:xfrm>
                <a:off x="2392863" y="3726768"/>
                <a:ext cx="4234941" cy="623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𝑔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i="1">
                          <a:latin typeface="Cambria Math"/>
                        </a:rPr>
                        <m:t>≝</m:t>
                      </m:r>
                      <m:sSubSup>
                        <m:sSubSupPr>
                          <m:ctrlPr>
                            <a:rPr lang="it-IT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h𝑜</m:t>
                          </m:r>
                        </m:sub>
                        <m:sup>
                          <m:r>
                            <a:rPr lang="it-IT" sz="32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it-IT" sz="32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3200" b="0" i="0" smtClean="0"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it-IT" sz="3200" b="0" i="0" smtClean="0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h𝑟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63" y="3726768"/>
                <a:ext cx="4234941" cy="6236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egnaposto contenuto 2"/>
              <p:cNvSpPr txBox="1">
                <a:spLocks/>
              </p:cNvSpPr>
              <p:nvPr/>
            </p:nvSpPr>
            <p:spPr>
              <a:xfrm>
                <a:off x="395535" y="5157192"/>
                <a:ext cx="8229600" cy="8380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This function was selected to be the same as the one acting on the I order model, i.e. it’s the sum of the inputs acting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it-IT" sz="2000" i="1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it-IT" sz="2000" b="0" i="1" smtClean="0">
                            <a:latin typeface="Cambria Math"/>
                          </a:rPr>
                          <m:t>h</m:t>
                        </m:r>
                        <m:r>
                          <a:rPr lang="it-IT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it-IT" sz="2000" b="0" i="1" smtClean="0">
                            <a:latin typeface="Cambria Math"/>
                          </a:rPr>
                          <m:t>h</m:t>
                        </m:r>
                        <m:r>
                          <a:rPr lang="it-IT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0" name="Segnaposto contenu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5" y="5157192"/>
                <a:ext cx="8229600" cy="838038"/>
              </a:xfrm>
              <a:prstGeom prst="rect">
                <a:avLst/>
              </a:prstGeom>
              <a:blipFill rotWithShape="1">
                <a:blip r:embed="rId4"/>
                <a:stretch>
                  <a:fillRect l="-815" t="-36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44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Reactive II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Consequences: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/>
              <p:cNvSpPr txBox="1"/>
              <p:nvPr/>
            </p:nvSpPr>
            <p:spPr>
              <a:xfrm>
                <a:off x="558998" y="4221088"/>
                <a:ext cx="7902676" cy="2118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𝑔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′′</m:t>
                          </m:r>
                        </m:sup>
                      </m:sSup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h𝑜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t-IT" sz="3200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h𝑟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𝑦</m:t>
                          </m:r>
                        </m:sub>
                      </m:sSub>
                      <m:r>
                        <a:rPr lang="it-IT" sz="3200" i="1"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it-IT" sz="3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sz="3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h𝑜</m:t>
                          </m:r>
                        </m:sub>
                      </m:sSub>
                      <m:r>
                        <a:rPr lang="it-IT" sz="3200" i="1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it-IT" sz="3200" i="1">
                          <a:latin typeface="Cambria Math"/>
                          <a:ea typeface="Cambria Math"/>
                        </a:rPr>
                        <m:t>𝐺</m:t>
                      </m:r>
                      <m:sSubSup>
                        <m:sSubSupPr>
                          <m:ctrlPr>
                            <a:rPr lang="it-IT" sz="3200" i="1">
                              <a:latin typeface="Cambria Math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it-IT" sz="3200" i="1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  <a:ea typeface="Cambria Math"/>
                            </a:rPr>
                            <m:t>h𝑜</m:t>
                          </m:r>
                        </m:sub>
                        <m:sup>
                          <m:r>
                            <a:rPr lang="it-IT" sz="3200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320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t-IT" sz="3200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h𝑟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𝑦</m:t>
                          </m:r>
                        </m:sub>
                      </m:sSub>
                      <m:r>
                        <a:rPr lang="it-IT" sz="3200" i="1"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it-IT" sz="3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sz="3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h𝑜</m:t>
                          </m:r>
                        </m:sub>
                      </m:sSub>
                      <m:r>
                        <a:rPr lang="it-IT" sz="3200" i="1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it-IT" sz="3200" i="1">
                          <a:latin typeface="Cambria Math"/>
                          <a:ea typeface="Cambria Math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it-IT" sz="32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it-IT" sz="3200" b="0" i="1" smtClean="0">
                                  <a:latin typeface="Cambria Math"/>
                                  <a:ea typeface="Cambria Math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it-IT" sz="3200" b="0" i="1" smtClean="0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it-IT" sz="32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3200">
                                  <a:latin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it-IT" sz="3200">
                                  <a:latin typeface="Cambria Math"/>
                                </a:rPr>
                                <m:t>21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h𝑟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32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4" name="CasellaDiTes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98" y="4221088"/>
                <a:ext cx="7902676" cy="211827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/>
              <p:cNvSpPr txBox="1"/>
              <p:nvPr/>
            </p:nvSpPr>
            <p:spPr>
              <a:xfrm>
                <a:off x="657967" y="2108921"/>
                <a:ext cx="7704738" cy="16826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𝑔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it-IT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h𝑜</m:t>
                          </m:r>
                        </m:sub>
                        <m:sup>
                          <m:r>
                            <a:rPr lang="it-IT" sz="32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3200" b="0" i="0" smtClean="0"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it-IT" sz="3200" b="0" i="0" smtClean="0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h𝑟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it-IT" sz="320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h𝑟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  <m:r>
                            <a:rPr lang="it-IT" sz="3200" i="1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/>
                                </a:rPr>
                                <m:t>h𝑖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it-IT" sz="32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it-IT" sz="3200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32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h𝑟</m:t>
                          </m:r>
                        </m:sub>
                      </m:sSub>
                      <m:sSub>
                        <m:sSubPr>
                          <m:ctrlPr>
                            <a:rPr lang="it-IT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it-IT" sz="3200" i="1">
                              <a:latin typeface="Cambria Math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it-IT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i="1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it-IT" sz="320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a:rPr lang="it-IT" sz="32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3200" b="0" i="0" smtClean="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/>
                            </a:rPr>
                            <m:t>h𝑖</m:t>
                          </m:r>
                        </m:sub>
                      </m:sSub>
                    </m:oMath>
                  </m:oMathPara>
                </a14:m>
                <a:endParaRPr lang="it-IT" sz="3200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67" y="2108921"/>
                <a:ext cx="7704738" cy="16826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45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Reactive II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Lyapunov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form: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/>
              <p:cNvSpPr txBox="1"/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a:rPr lang="it-IT" sz="3200" b="0" i="1" smtClean="0">
                          <a:latin typeface="Cambria Math"/>
                        </a:rPr>
                        <m:t>𝐴</m:t>
                      </m:r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a:rPr lang="it-IT" sz="3200" b="0" i="1" smtClean="0">
                          <a:latin typeface="Cambria Math"/>
                        </a:rPr>
                        <m:t>𝐵𝑢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2" name="CasellaDiTes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/>
              <p:cNvSpPr txBox="1"/>
              <p:nvPr/>
            </p:nvSpPr>
            <p:spPr>
              <a:xfrm>
                <a:off x="539552" y="2251857"/>
                <a:ext cx="2163093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h𝑜</m:t>
                                    </m:r>
                                  </m:sub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4" name="CasellaDiTes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51857"/>
                <a:ext cx="2163093" cy="16575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/>
              <p:cNvSpPr txBox="1"/>
              <p:nvPr/>
            </p:nvSpPr>
            <p:spPr>
              <a:xfrm>
                <a:off x="6549428" y="2251860"/>
                <a:ext cx="1899110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𝑢</m:t>
                      </m:r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7" name="CasellaDiTes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428" y="2251860"/>
                <a:ext cx="1899110" cy="16575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/>
              <p:cNvSpPr txBox="1"/>
              <p:nvPr/>
            </p:nvSpPr>
            <p:spPr>
              <a:xfrm>
                <a:off x="3635896" y="2251858"/>
                <a:ext cx="2020810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i="1">
                          <a:latin typeface="Cambria Math"/>
                        </a:rPr>
                        <m:t>≝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h𝑜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9" name="CasellaDiTes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251858"/>
                <a:ext cx="2020810" cy="16575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/>
              <p:cNvSpPr txBox="1"/>
              <p:nvPr/>
            </p:nvSpPr>
            <p:spPr>
              <a:xfrm>
                <a:off x="2543994" y="4509120"/>
                <a:ext cx="4204613" cy="165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it-IT" sz="32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32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it-IT" sz="32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32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𝑜𝑖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it-IT" sz="32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h𝑖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it-IT" sz="32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it-IT" sz="32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32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3200" i="1">
                                        <a:latin typeface="Cambria Math"/>
                                      </a:rPr>
                                      <m:t>h𝑖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994" y="4509120"/>
                <a:ext cx="4204613" cy="16575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66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Reactive II Order Model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Lyapunov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form: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/>
              <p:cNvSpPr txBox="1"/>
              <p:nvPr/>
            </p:nvSpPr>
            <p:spPr>
              <a:xfrm>
                <a:off x="395536" y="1912560"/>
                <a:ext cx="4660122" cy="2278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/>
                        </a:rPr>
                        <m:t>𝐴</m:t>
                      </m:r>
                      <m:r>
                        <a:rPr lang="it-IT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8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sz="28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it-IT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8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800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it-IT" sz="2800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800" b="0" i="1" smtClean="0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sz="2800" b="0" i="1" smtClean="0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i="1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28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8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800">
                                    <a:latin typeface="Cambria Math"/>
                                  </a:rPr>
                                  <m:t>G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5" name="CasellaDiTes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12560"/>
                <a:ext cx="4660122" cy="227844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/>
              <p:cNvSpPr txBox="1"/>
              <p:nvPr/>
            </p:nvSpPr>
            <p:spPr>
              <a:xfrm>
                <a:off x="395535" y="4267284"/>
                <a:ext cx="6318203" cy="2362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/>
                        </a:rPr>
                        <m:t>𝐵</m:t>
                      </m:r>
                      <m:r>
                        <a:rPr lang="it-IT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it-IT" sz="2800">
                                        <a:latin typeface="Cambria Math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𝑜𝑟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sz="28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sz="2800" b="0" i="0" smtClean="0">
                                        <a:latin typeface="Cambria Math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it-IT" sz="2800" b="0" i="0" smtClean="0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it-IT" sz="28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8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2800" i="1">
                                        <a:latin typeface="Cambria Math"/>
                                      </a:rPr>
                                      <m:t>h𝑟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it-IT" sz="28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it-IT" sz="2800">
                                        <a:latin typeface="Cambria Math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h𝑟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sz="28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it-IT" sz="2800" i="1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it-IT" sz="28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800">
                                    <a:latin typeface="Cambria Math"/>
                                  </a:rPr>
                                  <m:t>G</m:t>
                                </m:r>
                                <m:sSub>
                                  <m:sSub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sz="2800">
                                        <a:latin typeface="Cambria Math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it-IT" sz="2800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it-IT" sz="2800">
                                    <a:latin typeface="Cambria Math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it-IT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8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sz="2800" i="1">
                                        <a:latin typeface="Cambria Math"/>
                                      </a:rPr>
                                      <m:t>h𝑟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6" name="CasellaDiTes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5" y="4267284"/>
                <a:ext cx="6318203" cy="236237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a:rPr lang="it-IT" sz="3200" b="0" i="1" smtClean="0">
                          <a:latin typeface="Cambria Math"/>
                        </a:rPr>
                        <m:t>𝐴</m:t>
                      </m:r>
                      <m:r>
                        <a:rPr lang="it-IT" sz="3200" b="0" i="1" smtClean="0">
                          <a:latin typeface="Cambria Math"/>
                        </a:rPr>
                        <m:t>𝜃</m:t>
                      </m:r>
                      <m:r>
                        <a:rPr lang="it-IT" sz="3200" b="0" i="1" smtClean="0">
                          <a:latin typeface="Cambria Math"/>
                        </a:rPr>
                        <m:t>+</m:t>
                      </m:r>
                      <m:r>
                        <a:rPr lang="it-IT" sz="3200" b="0" i="1" smtClean="0">
                          <a:latin typeface="Cambria Math"/>
                        </a:rPr>
                        <m:t>𝐵𝑢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522" y="1327785"/>
                <a:ext cx="2693686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/>
              <p:cNvSpPr txBox="1"/>
              <p:nvPr/>
            </p:nvSpPr>
            <p:spPr>
              <a:xfrm>
                <a:off x="5868144" y="2492558"/>
                <a:ext cx="2947474" cy="11184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sz="3200" b="0" i="1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11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it-IT" sz="32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2492558"/>
                <a:ext cx="2947474" cy="111844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18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Loss of Life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Variables: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egnaposto contenuto 2"/>
              <p:cNvSpPr txBox="1">
                <a:spLocks/>
              </p:cNvSpPr>
              <p:nvPr/>
            </p:nvSpPr>
            <p:spPr>
              <a:xfrm>
                <a:off x="395536" y="1916832"/>
                <a:ext cx="8229600" cy="12354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t-IT" sz="2000" i="1">
                        <a:latin typeface="Cambria Math"/>
                        <a:cs typeface="Times New Roman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loss of life [min]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t-IT" sz="2000" i="1">
                        <a:latin typeface="Cambria Math"/>
                        <a:cs typeface="Times New Roman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relative aging rate []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/>
                            <a:cs typeface="Times New Roman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= hotspot temperature [°C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]</a:t>
                </a:r>
              </a:p>
            </p:txBody>
          </p:sp>
        </mc:Choice>
        <mc:Fallback xmlns="">
          <p:sp>
            <p:nvSpPr>
              <p:cNvPr id="14" name="Segnaposto contenu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16832"/>
                <a:ext cx="8229600" cy="1235426"/>
              </a:xfrm>
              <a:prstGeom prst="rect">
                <a:avLst/>
              </a:prstGeom>
              <a:blipFill rotWithShape="1">
                <a:blip r:embed="rId2"/>
                <a:stretch>
                  <a:fillRect t="-24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gnaposto contenuto 2"/>
          <p:cNvSpPr txBox="1">
            <a:spLocks/>
          </p:cNvSpPr>
          <p:nvPr/>
        </p:nvSpPr>
        <p:spPr>
          <a:xfrm>
            <a:off x="395536" y="3429000"/>
            <a:ext cx="8229600" cy="676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Formula: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/>
              <p:cNvSpPr txBox="1"/>
              <p:nvPr/>
            </p:nvSpPr>
            <p:spPr>
              <a:xfrm>
                <a:off x="395536" y="4441302"/>
                <a:ext cx="2825132" cy="1027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sz="3200" b="0" i="1" smtClean="0">
                              <a:latin typeface="Cambria Math"/>
                            </a:rPr>
                            <m:t>𝑑𝐿</m:t>
                          </m:r>
                        </m:num>
                        <m:den>
                          <m:r>
                            <a:rPr lang="it-IT" sz="3200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r>
                        <a:rPr lang="it-IT" sz="3200" b="0" i="1" smtClean="0">
                          <a:latin typeface="Cambria Math"/>
                        </a:rPr>
                        <m:t>𝑉</m:t>
                      </m:r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h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6" name="CasellaDiTes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441302"/>
                <a:ext cx="2825132" cy="102733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/>
              <p:cNvSpPr txBox="1"/>
              <p:nvPr/>
            </p:nvSpPr>
            <p:spPr>
              <a:xfrm>
                <a:off x="4283968" y="4662580"/>
                <a:ext cx="18340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17" name="CasellaDiTes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4662580"/>
                <a:ext cx="1834092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485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Loss of Life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95536" y="1294819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Thermally upgraded paper: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egnaposto contenuto 2"/>
          <p:cNvSpPr txBox="1">
            <a:spLocks/>
          </p:cNvSpPr>
          <p:nvPr/>
        </p:nvSpPr>
        <p:spPr>
          <a:xfrm>
            <a:off x="365110" y="4005064"/>
            <a:ext cx="8229600" cy="676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NON thermally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upgraded paper: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/>
              <p:cNvSpPr txBox="1"/>
              <p:nvPr/>
            </p:nvSpPr>
            <p:spPr>
              <a:xfrm>
                <a:off x="1032172" y="2204864"/>
                <a:ext cx="6956328" cy="1198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𝑉</m:t>
                      </m:r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it-IT" sz="32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3200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it-IT" sz="32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3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it-IT" sz="3200" b="0" i="1" smtClean="0">
                                      <a:latin typeface="Cambria Math"/>
                                    </a:rPr>
                                    <m:t>15 000</m:t>
                                  </m:r>
                                </m:num>
                                <m:den>
                                  <m:r>
                                    <a:rPr lang="it-IT" sz="3200" b="0" i="1" smtClean="0">
                                      <a:latin typeface="Cambria Math"/>
                                    </a:rPr>
                                    <m:t>110+273</m:t>
                                  </m:r>
                                </m:den>
                              </m:f>
                              <m:r>
                                <a:rPr lang="it-IT" sz="32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t-IT" sz="32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it-IT" sz="3200" b="0" i="1" smtClean="0">
                                      <a:latin typeface="Cambria Math"/>
                                    </a:rPr>
                                    <m:t>15 000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32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b="0" i="1" smtClean="0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3200" b="0" i="1" smtClean="0">
                                          <a:latin typeface="Cambria Math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it-IT" sz="3200" b="0" i="1" smtClean="0">
                                      <a:latin typeface="Cambria Math"/>
                                    </a:rPr>
                                    <m:t>+273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8" name="CasellaDiTes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172" y="2204864"/>
                <a:ext cx="6956328" cy="119885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/>
              <p:cNvSpPr txBox="1"/>
              <p:nvPr/>
            </p:nvSpPr>
            <p:spPr>
              <a:xfrm>
                <a:off x="2403156" y="4941168"/>
                <a:ext cx="4214359" cy="1198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/>
                        </a:rPr>
                        <m:t>𝑉</m:t>
                      </m:r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it-IT" sz="3200" b="0" i="1" smtClean="0">
                          <a:latin typeface="Cambria Math"/>
                        </a:rPr>
                        <m:t>=2</m:t>
                      </m:r>
                      <m:r>
                        <m:rPr>
                          <m:lit/>
                        </m:rPr>
                        <a:rPr lang="it-IT" sz="3200" b="0" i="1" smtClean="0">
                          <a:latin typeface="Cambria Math"/>
                        </a:rPr>
                        <m:t>^</m:t>
                      </m:r>
                      <m:d>
                        <m:dPr>
                          <m:ctrlPr>
                            <a:rPr lang="it-IT" sz="32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sz="32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it-IT" sz="320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it-IT" sz="3200" i="1">
                                      <a:latin typeface="Cambria Math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it-IT" sz="3200" i="1">
                                  <a:latin typeface="Cambria Math"/>
                                </a:rPr>
                                <m:t>−98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156" y="4941168"/>
                <a:ext cx="4214359" cy="11988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61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</TotalTime>
  <Words>2068</Words>
  <Application>Microsoft Office PowerPoint</Application>
  <PresentationFormat>Presentazione su schermo (4:3)</PresentationFormat>
  <Paragraphs>137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1" baseType="lpstr">
      <vt:lpstr>Tema di Office</vt:lpstr>
      <vt:lpstr>IEC Models</vt:lpstr>
      <vt:lpstr>Model Variables</vt:lpstr>
      <vt:lpstr>Model Variables</vt:lpstr>
      <vt:lpstr>Model Variables</vt:lpstr>
      <vt:lpstr>Model Variables</vt:lpstr>
      <vt:lpstr>Exponential Model</vt:lpstr>
      <vt:lpstr>I Order Model</vt:lpstr>
      <vt:lpstr>I Order Model</vt:lpstr>
      <vt:lpstr>I Order Model</vt:lpstr>
      <vt:lpstr>I Order Model</vt:lpstr>
      <vt:lpstr>II Order Model</vt:lpstr>
      <vt:lpstr>II Order Model</vt:lpstr>
      <vt:lpstr>II Order Model</vt:lpstr>
      <vt:lpstr>II Order Model</vt:lpstr>
      <vt:lpstr>Reactive II Order Model</vt:lpstr>
      <vt:lpstr>Reactive II Order Model</vt:lpstr>
      <vt:lpstr>Reactive II Order Model</vt:lpstr>
      <vt:lpstr>Reactive II Order Model</vt:lpstr>
      <vt:lpstr>Loss of Life</vt:lpstr>
      <vt:lpstr>Loss of Life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Summary</dc:title>
  <dc:creator>nives pedretti</dc:creator>
  <cp:lastModifiedBy>nives pedretti</cp:lastModifiedBy>
  <cp:revision>239</cp:revision>
  <dcterms:created xsi:type="dcterms:W3CDTF">2026-03-19T15:48:20Z</dcterms:created>
  <dcterms:modified xsi:type="dcterms:W3CDTF">2026-04-13T17:35:50Z</dcterms:modified>
</cp:coreProperties>
</file>